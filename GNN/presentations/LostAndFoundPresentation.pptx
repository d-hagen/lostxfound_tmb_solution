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75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77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>
        <p:scale>
          <a:sx n="66" d="100"/>
          <a:sy n="66" d="100"/>
        </p:scale>
        <p:origin x="2296" y="1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A929B-5061-4846-91A2-5B4E0E3CD89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E78D4-9D00-2F41-86E4-357A486B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98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78D4-9D00-2F41-86E4-357A486B13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11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09A0-0BAE-D1B9-8523-15AE079F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4164"/>
            <a:ext cx="8229600" cy="1143000"/>
          </a:xfrm>
        </p:spPr>
        <p:txBody>
          <a:bodyPr/>
          <a:lstStyle/>
          <a:p>
            <a:r>
              <a:rPr lang="en-GB" dirty="0">
                <a:latin typeface="Century Gothic" panose="020B0502020202020204" pitchFamily="34" charset="0"/>
              </a:rPr>
              <a:t>Lost &amp; Found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F23D2F-CEE3-1142-7F03-F78273A05136}"/>
              </a:ext>
            </a:extLst>
          </p:cNvPr>
          <p:cNvSpPr txBox="1">
            <a:spLocks/>
          </p:cNvSpPr>
          <p:nvPr/>
        </p:nvSpPr>
        <p:spPr>
          <a:xfrm>
            <a:off x="457200" y="32399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Century Gothic" panose="020B050202020202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3847144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Century Gothic" panose="020B0502020202020204" pitchFamily="34" charset="0"/>
              </a:rP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TMB runs 165 metro stations and 2,635 bus stops across Barcelona</a:t>
            </a:r>
          </a:p>
          <a:p>
            <a:r>
              <a:rPr sz="2400" dirty="0">
                <a:latin typeface="Century Gothic" panose="020B0502020202020204" pitchFamily="34" charset="0"/>
              </a:rPr>
              <a:t>22,000-27,000 items are lost across the network every year</a:t>
            </a:r>
          </a:p>
          <a:p>
            <a:r>
              <a:rPr sz="2400" dirty="0">
                <a:latin typeface="Century Gothic" panose="020B0502020202020204" pitchFamily="34" charset="0"/>
              </a:rPr>
              <a:t>Current recovery rate: 25-30% -- meaning 7 in 10 items never make it back to their owner</a:t>
            </a:r>
          </a:p>
          <a:p>
            <a:r>
              <a:rPr sz="2400" dirty="0">
                <a:latin typeface="Century Gothic" panose="020B0502020202020204" pitchFamily="34" charset="0"/>
              </a:rPr>
              <a:t>The system exists. The intelligence does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Century Gothic" panose="020B0502020202020204" pitchFamily="34" charset="0"/>
              </a:rPr>
              <a:t>Our way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Visited TMB's lost and found point at Sagrada Familia</a:t>
            </a:r>
          </a:p>
          <a:p>
            <a:r>
              <a:rPr sz="2400" dirty="0">
                <a:latin typeface="Century Gothic" panose="020B0502020202020204" pitchFamily="34" charset="0"/>
              </a:rPr>
              <a:t>Mapped the full journey of a lost item through the system - from find to claim</a:t>
            </a:r>
          </a:p>
          <a:p>
            <a:r>
              <a:rPr sz="2400" dirty="0">
                <a:latin typeface="Century Gothic" panose="020B0502020202020204" pitchFamily="34" charset="0"/>
              </a:rPr>
              <a:t>Benchmarked against global systems: Seoul LOST112 (85%), Hong Kong MTR (50%), Tokyo Find Inc.</a:t>
            </a:r>
          </a:p>
          <a:p>
            <a:r>
              <a:rPr sz="2400" dirty="0">
                <a:latin typeface="Century Gothic" panose="020B0502020202020204" pitchFamily="34" charset="0"/>
              </a:rPr>
              <a:t>Research shows 90% of finders try to return items - the gap is not willingness, it is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Problems we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Registration is manual and Excel-based -- errors and delays from the first moment</a:t>
            </a:r>
          </a:p>
          <a:p>
            <a:r>
              <a:rPr sz="2400" dirty="0">
                <a:latin typeface="Century Gothic" panose="020B0502020202020204" pitchFamily="34" charset="0"/>
              </a:rPr>
              <a:t>Everything goes to one depot (Sagrada Familia) regardless of where the passenger lives or travels</a:t>
            </a:r>
          </a:p>
          <a:p>
            <a:r>
              <a:rPr sz="2400" dirty="0">
                <a:latin typeface="Century Gothic" panose="020B0502020202020204" pitchFamily="34" charset="0"/>
              </a:rPr>
              <a:t>No communication to passengers after they file a claim</a:t>
            </a:r>
          </a:p>
          <a:p>
            <a:r>
              <a:rPr sz="2400" dirty="0">
                <a:latin typeface="Century Gothic" panose="020B0502020202020204" pitchFamily="34" charset="0"/>
              </a:rPr>
              <a:t>Abandoned items treated the same as genuinely lost ones</a:t>
            </a:r>
          </a:p>
          <a:p>
            <a:r>
              <a:rPr sz="2400" dirty="0">
                <a:latin typeface="Century Gothic" panose="020B0502020202020204" pitchFamily="34" charset="0"/>
              </a:rPr>
              <a:t>No intelligence anywhere in the process -- storage is decided by convenience, not by passenger </a:t>
            </a:r>
            <a:r>
              <a:rPr sz="2400" dirty="0" err="1">
                <a:latin typeface="Century Gothic" panose="020B0502020202020204" pitchFamily="34" charset="0"/>
              </a:rPr>
              <a:t>behaviour</a:t>
            </a:r>
            <a:endParaRPr sz="24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Our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The passenger who loses something on TMB's network</a:t>
            </a:r>
          </a:p>
          <a:p>
            <a:r>
              <a:rPr sz="2400" dirty="0">
                <a:latin typeface="Century Gothic" panose="020B0502020202020204" pitchFamily="34" charset="0"/>
              </a:rPr>
              <a:t>They file a claim, hear nothing back, and eventually give up</a:t>
            </a:r>
          </a:p>
          <a:p>
            <a:r>
              <a:rPr sz="2400" dirty="0">
                <a:latin typeface="Century Gothic" panose="020B0502020202020204" pitchFamily="34" charset="0"/>
              </a:rPr>
              <a:t>They don't lack willingness - the system lacks the intelligence to meet them where they are</a:t>
            </a:r>
          </a:p>
          <a:p>
            <a:r>
              <a:rPr sz="2400" dirty="0">
                <a:latin typeface="Century Gothic" panose="020B0502020202020204" pitchFamily="34" charset="0"/>
              </a:rPr>
              <a:t>Every failed recovery quietly erodes their trust in the infrastructure meant to support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Where we focus in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The lost and found journey has multiple steps: finding, registering, storing, claiming, collecting</a:t>
            </a:r>
          </a:p>
          <a:p>
            <a:r>
              <a:rPr sz="2400" dirty="0">
                <a:latin typeface="Century Gothic" panose="020B0502020202020204" pitchFamily="34" charset="0"/>
              </a:rPr>
              <a:t>We focus on one critical moment: what happens after an item is found</a:t>
            </a:r>
          </a:p>
          <a:p>
            <a:r>
              <a:rPr sz="2400" dirty="0">
                <a:latin typeface="Century Gothic" panose="020B0502020202020204" pitchFamily="34" charset="0"/>
              </a:rPr>
              <a:t>Specifically - where the item gets stored, and how that single decision determines whether recovery is even possible</a:t>
            </a:r>
          </a:p>
          <a:p>
            <a:r>
              <a:rPr sz="2400" dirty="0">
                <a:latin typeface="Century Gothic" panose="020B0502020202020204" pitchFamily="34" charset="0"/>
              </a:rPr>
              <a:t>Today that decision is made by operational convenience. We replace it with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Designing for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We are not designing for today's Excel spreadsheet</a:t>
            </a:r>
          </a:p>
          <a:p>
            <a:r>
              <a:rPr sz="2400" dirty="0">
                <a:latin typeface="Century Gothic" panose="020B0502020202020204" pitchFamily="34" charset="0"/>
              </a:rPr>
              <a:t>We assume TMB will improve - better data, better infrastructure, better connectivity over time</a:t>
            </a:r>
          </a:p>
          <a:p>
            <a:r>
              <a:rPr sz="2400" dirty="0">
                <a:latin typeface="Century Gothic" panose="020B0502020202020204" pitchFamily="34" charset="0"/>
              </a:rPr>
              <a:t>Our solution is built to grow with it: the GNN improves as more retrieval data accumulates</a:t>
            </a:r>
          </a:p>
          <a:p>
            <a:r>
              <a:rPr sz="2400" dirty="0">
                <a:latin typeface="Century Gothic" panose="020B0502020202020204" pitchFamily="34" charset="0"/>
              </a:rPr>
              <a:t>As the settlement grows and passenger patterns shift, the optimal storage points update too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Passenger movement follows predictable patterns by route</a:t>
            </a:r>
            <a:r>
              <a:rPr lang="en-GB" sz="2400" dirty="0">
                <a:latin typeface="Century Gothic" panose="020B0502020202020204" pitchFamily="34" charset="0"/>
              </a:rPr>
              <a:t>,</a:t>
            </a:r>
            <a:r>
              <a:rPr sz="2400" dirty="0">
                <a:latin typeface="Century Gothic" panose="020B0502020202020204" pitchFamily="34" charset="0"/>
              </a:rPr>
              <a:t> time of day</a:t>
            </a:r>
            <a:r>
              <a:rPr lang="en-GB" sz="2400" dirty="0">
                <a:latin typeface="Century Gothic" panose="020B0502020202020204" pitchFamily="34" charset="0"/>
              </a:rPr>
              <a:t> and user profile</a:t>
            </a:r>
            <a:endParaRPr sz="2400" dirty="0">
              <a:latin typeface="Century Gothic" panose="020B0502020202020204" pitchFamily="34" charset="0"/>
            </a:endParaRPr>
          </a:p>
          <a:p>
            <a:r>
              <a:rPr sz="2400" dirty="0">
                <a:latin typeface="Century Gothic" panose="020B0502020202020204" pitchFamily="34" charset="0"/>
              </a:rPr>
              <a:t>TMB has enough historical data to train a GNN meaningfully</a:t>
            </a:r>
          </a:p>
          <a:p>
            <a:r>
              <a:rPr sz="2400" dirty="0">
                <a:latin typeface="Century Gothic" panose="020B0502020202020204" pitchFamily="34" charset="0"/>
              </a:rPr>
              <a:t>The GNN works as a recommendation layer - no need to replace TMB's existing systems</a:t>
            </a:r>
          </a:p>
          <a:p>
            <a:r>
              <a:rPr sz="2400" dirty="0">
                <a:latin typeface="Century Gothic" panose="020B0502020202020204" pitchFamily="34" charset="0"/>
              </a:rPr>
              <a:t>Reducing the detour cost of recovery directly increases the share of passengers who collect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5W2H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24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Who  </a:t>
            </a:r>
            <a:r>
              <a:rPr lang="en-US" sz="2000" dirty="0">
                <a:latin typeface="Century Gothic" panose="020B0502020202020204" pitchFamily="34" charset="0"/>
              </a:rPr>
              <a:t>Passengers who lose items on TMB's metro and bus network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What  </a:t>
            </a:r>
            <a:r>
              <a:rPr lang="en-US" sz="2000" dirty="0">
                <a:latin typeface="Century Gothic" panose="020B0502020202020204" pitchFamily="34" charset="0"/>
              </a:rPr>
              <a:t>GNN-powered storage placement and smart locker network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Where  </a:t>
            </a:r>
            <a:r>
              <a:rPr lang="en-US" sz="2000" dirty="0">
                <a:latin typeface="Century Gothic" panose="020B0502020202020204" pitchFamily="34" charset="0"/>
              </a:rPr>
              <a:t>Across TMB's 165 metro stations and 2,635 bus stops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When  </a:t>
            </a:r>
            <a:r>
              <a:rPr lang="en-US" sz="2000" dirty="0">
                <a:latin typeface="Century Gothic" panose="020B0502020202020204" pitchFamily="34" charset="0"/>
              </a:rPr>
              <a:t>At the moment a found item is logged into the system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Why  </a:t>
            </a:r>
            <a:r>
              <a:rPr lang="en-US" sz="2000" dirty="0">
                <a:latin typeface="Century Gothic" panose="020B0502020202020204" pitchFamily="34" charset="0"/>
              </a:rPr>
              <a:t>70% of items are never recovered -- poor storage placement and no intelligence in the process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How  </a:t>
            </a:r>
            <a:r>
              <a:rPr lang="en-US" sz="2000" dirty="0">
                <a:latin typeface="Century Gothic" panose="020B0502020202020204" pitchFamily="34" charset="0"/>
              </a:rPr>
              <a:t>GNN recommends optimal storage location per item based on real movement patterns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How much  </a:t>
            </a:r>
            <a:r>
              <a:rPr lang="en-US" sz="2000" dirty="0">
                <a:latin typeface="Century Gothic" panose="020B0502020202020204" pitchFamily="34" charset="0"/>
              </a:rPr>
              <a:t>From 25% to 40-50% recovery - 3,000-4,000 more items returned per year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TMB Lost &amp; Found — 5-Year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>
                <a:latin typeface="Century Gothic" panose="020B0502020202020204" pitchFamily="34" charset="0"/>
              </a:rPr>
              <a:t>From single-station depot to model-routed locker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Current 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All items centralized at Sagrada Família depot</a:t>
            </a:r>
          </a:p>
          <a:p>
            <a:r>
              <a:rPr sz="2400" dirty="0">
                <a:latin typeface="Century Gothic" panose="020B0502020202020204" pitchFamily="34" charset="0"/>
              </a:rPr>
              <a:t>Registration delay: 5–10 days after find</a:t>
            </a:r>
          </a:p>
          <a:p>
            <a:r>
              <a:rPr sz="2400" dirty="0">
                <a:latin typeface="Century Gothic" panose="020B0502020202020204" pitchFamily="34" charset="0"/>
              </a:rPr>
              <a:t>Claims only in person, by phone, or via web form</a:t>
            </a:r>
          </a:p>
          <a:p>
            <a:r>
              <a:rPr sz="2400" dirty="0">
                <a:latin typeface="Century Gothic" panose="020B0502020202020204" pitchFamily="34" charset="0"/>
              </a:rPr>
              <a:t>No data captured on passenger preference or convenience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Century Gothic" panose="020B0502020202020204" pitchFamily="34" charset="0"/>
              </a:rPr>
              <a:t>Proposed changes — before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latin typeface="Century Gothic" panose="020B0502020202020204" pitchFamily="34" charset="0"/>
              </a:rPr>
              <a:t>Unified database: TMB + City Council + Mossos + Renfe</a:t>
            </a:r>
          </a:p>
          <a:p>
            <a:r>
              <a:rPr sz="2400">
                <a:latin typeface="Century Gothic" panose="020B0502020202020204" pitchFamily="34" charset="0"/>
              </a:rPr>
              <a:t>Staff mobile app: photo → VLM auto-description → instant registration</a:t>
            </a:r>
          </a:p>
          <a:p>
            <a:r>
              <a:rPr sz="2400">
                <a:latin typeface="Century Gothic" panose="020B0502020202020204" pitchFamily="34" charset="0"/>
              </a:rPr>
              <a:t>Chatbot retrieval: natural-language search against the shared ledger</a:t>
            </a:r>
          </a:p>
          <a:p>
            <a:r>
              <a:rPr sz="2400">
                <a:latin typeface="Century Gothic" panose="020B0502020202020204" pitchFamily="34" charset="0"/>
              </a:rPr>
              <a:t>Pickup questionnaire: capture preferred station + item type</a:t>
            </a:r>
          </a:p>
          <a:p>
            <a:r>
              <a:rPr sz="2400">
                <a:latin typeface="Century Gothic" panose="020B0502020202020204" pitchFamily="34" charset="0"/>
              </a:rPr>
              <a:t>Outcome: searchable items in seconds, easier retrieval, labelled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GNN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Input:  found-at station, item type, time, day-of-week</a:t>
            </a:r>
          </a:p>
          <a:p>
            <a:r>
              <a:rPr sz="2400" dirty="0">
                <a:latin typeface="Century Gothic" panose="020B0502020202020204" pitchFamily="34" charset="0"/>
              </a:rPr>
              <a:t>Output: </a:t>
            </a:r>
            <a:r>
              <a:rPr lang="en-US" sz="2400" dirty="0">
                <a:latin typeface="Century Gothic" panose="020B0502020202020204" pitchFamily="34" charset="0"/>
              </a:rPr>
              <a:t> per-station probability of being the claimant's preferred pickup</a:t>
            </a:r>
          </a:p>
          <a:p>
            <a:r>
              <a:rPr sz="2400" dirty="0">
                <a:latin typeface="Century Gothic" panose="020B0502020202020204" pitchFamily="34" charset="0"/>
              </a:rPr>
              <a:t>Decision rule selects the storage station minimizing expected travel</a:t>
            </a:r>
          </a:p>
          <a:p>
            <a:r>
              <a:rPr sz="2400" dirty="0">
                <a:latin typeface="Century Gothic" panose="020B0502020202020204" pitchFamily="34" charset="0"/>
              </a:rPr>
              <a:t>Aggregating over all events sizes the locker network</a:t>
            </a:r>
            <a:r>
              <a:rPr lang="de-DE" sz="2400" dirty="0">
                <a:latin typeface="Century Gothic" panose="020B0502020202020204" pitchFamily="34" charset="0"/>
              </a:rPr>
              <a:t> – </a:t>
            </a:r>
            <a:r>
              <a:rPr lang="de-DE" sz="2400" dirty="0" err="1">
                <a:latin typeface="Century Gothic" panose="020B0502020202020204" pitchFamily="34" charset="0"/>
              </a:rPr>
              <a:t>how</a:t>
            </a:r>
            <a:r>
              <a:rPr lang="de-DE" sz="2400" dirty="0">
                <a:latin typeface="Century Gothic" panose="020B0502020202020204" pitchFamily="34" charset="0"/>
              </a:rPr>
              <a:t> </a:t>
            </a:r>
            <a:r>
              <a:rPr lang="de-DE" sz="2400" dirty="0" err="1">
                <a:latin typeface="Century Gothic" panose="020B0502020202020204" pitchFamily="34" charset="0"/>
              </a:rPr>
              <a:t>many</a:t>
            </a:r>
            <a:r>
              <a:rPr lang="de-DE" sz="2400" dirty="0">
                <a:latin typeface="Century Gothic" panose="020B0502020202020204" pitchFamily="34" charset="0"/>
              </a:rPr>
              <a:t> </a:t>
            </a:r>
            <a:r>
              <a:rPr lang="de-DE" sz="2400" dirty="0" err="1">
                <a:latin typeface="Century Gothic" panose="020B0502020202020204" pitchFamily="34" charset="0"/>
              </a:rPr>
              <a:t>lockers</a:t>
            </a:r>
            <a:r>
              <a:rPr lang="de-DE" sz="2400" dirty="0">
                <a:latin typeface="Century Gothic" panose="020B0502020202020204" pitchFamily="34" charset="0"/>
              </a:rPr>
              <a:t> </a:t>
            </a:r>
            <a:r>
              <a:rPr lang="de-DE" sz="2400" dirty="0" err="1">
                <a:latin typeface="Century Gothic" panose="020B0502020202020204" pitchFamily="34" charset="0"/>
              </a:rPr>
              <a:t>where</a:t>
            </a:r>
            <a:r>
              <a:rPr lang="de-DE" sz="2400" dirty="0">
                <a:latin typeface="Century Gothic" panose="020B0502020202020204" pitchFamily="34" charset="0"/>
              </a:rPr>
              <a:t> </a:t>
            </a:r>
            <a:endParaRPr sz="24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How the GNN is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latin typeface="Century Gothic" panose="020B0502020202020204" pitchFamily="34" charset="0"/>
              </a:rPr>
              <a:t>Year 0: collect questionnaire labels at existing pickup points</a:t>
            </a:r>
          </a:p>
          <a:p>
            <a:r>
              <a:rPr sz="2400">
                <a:latin typeface="Century Gothic" panose="020B0502020202020204" pitchFamily="34" charset="0"/>
              </a:rPr>
              <a:t>Pretrain on prior synth data (encoded passenger-profile assumptions)</a:t>
            </a:r>
          </a:p>
          <a:p>
            <a:r>
              <a:rPr sz="2400">
                <a:latin typeface="Century Gothic" panose="020B0502020202020204" pitchFamily="34" charset="0"/>
              </a:rPr>
              <a:t>Fine-tune on real questionnaire data; prior weight decays year by year</a:t>
            </a:r>
          </a:p>
          <a:p>
            <a:r>
              <a:rPr sz="2400">
                <a:latin typeface="Century Gothic" panose="020B0502020202020204" pitchFamily="34" charset="0"/>
              </a:rPr>
              <a:t>Annual retraining on accumulated questionnaire corpus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What it tells us and what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4372"/>
            <a:ext cx="5071730" cy="4371791"/>
          </a:xfrm>
        </p:spPr>
        <p:txBody>
          <a:bodyPr>
            <a:normAutofit/>
          </a:bodyPr>
          <a:lstStyle/>
          <a:p>
            <a:r>
              <a:rPr sz="2000" dirty="0">
                <a:latin typeface="Century Gothic" panose="020B0502020202020204" pitchFamily="34" charset="0"/>
              </a:rPr>
              <a:t>Per-item: ship directly to the locker the model recommends</a:t>
            </a:r>
          </a:p>
          <a:p>
            <a:r>
              <a:rPr sz="2000" dirty="0">
                <a:latin typeface="Century Gothic" panose="020B0502020202020204" pitchFamily="34" charset="0"/>
              </a:rPr>
              <a:t>Aggregate: which stations host lockers, sized by predicted weekly load</a:t>
            </a:r>
          </a:p>
          <a:p>
            <a:r>
              <a:rPr sz="2000" dirty="0">
                <a:latin typeface="Century Gothic" panose="020B0502020202020204" pitchFamily="34" charset="0"/>
              </a:rPr>
              <a:t>Replaces 'everything to Sagrada' with model-driven routing at find time</a:t>
            </a:r>
          </a:p>
          <a:p>
            <a:r>
              <a:rPr sz="2000" dirty="0">
                <a:latin typeface="Century Gothic" panose="020B0502020202020204" pitchFamily="34" charset="0"/>
              </a:rPr>
              <a:t>Locker map reshapes annually as travel patterns drift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5DFD1-E6E4-5978-D6D2-130FBF0D4E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19" t="15454" r="44204" b="15363"/>
          <a:stretch>
            <a:fillRect/>
          </a:stretch>
        </p:blipFill>
        <p:spPr>
          <a:xfrm>
            <a:off x="5314012" y="1766553"/>
            <a:ext cx="3585438" cy="35297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9C2D7-B575-E146-B9A1-F2D0351C3B10}"/>
              </a:ext>
            </a:extLst>
          </p:cNvPr>
          <p:cNvSpPr txBox="1"/>
          <p:nvPr/>
        </p:nvSpPr>
        <p:spPr>
          <a:xfrm>
            <a:off x="5528930" y="5418853"/>
            <a:ext cx="3370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Aggregated prediction for 1 year </a:t>
            </a:r>
            <a:r>
              <a:rPr lang="en-US" sz="1400" dirty="0"/>
              <a:t>(avg Items/Week)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Hopeful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Convenient pickup → more trust → higher retrieval rate</a:t>
            </a:r>
          </a:p>
          <a:p>
            <a:r>
              <a:rPr sz="2400" dirty="0">
                <a:latin typeface="Century Gothic" panose="020B0502020202020204" pitchFamily="34" charset="0"/>
              </a:rPr>
              <a:t>Faster retrieval → less storage time per item</a:t>
            </a:r>
          </a:p>
          <a:p>
            <a:r>
              <a:rPr sz="2400" dirty="0">
                <a:latin typeface="Century Gothic" panose="020B0502020202020204" pitchFamily="34" charset="0"/>
              </a:rPr>
              <a:t>Positive feedback loop: better data → better model → better placement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TMB —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+  Shorter average storage time per item</a:t>
            </a:r>
          </a:p>
          <a:p>
            <a:r>
              <a:rPr sz="2400" dirty="0">
                <a:latin typeface="Century Gothic" panose="020B0502020202020204" pitchFamily="34" charset="0"/>
              </a:rPr>
              <a:t>+  Fewer items held at any one moment</a:t>
            </a:r>
          </a:p>
          <a:p>
            <a:r>
              <a:rPr sz="2400" dirty="0">
                <a:latin typeface="Century Gothic" panose="020B0502020202020204" pitchFamily="34" charset="0"/>
              </a:rPr>
              <a:t>+  Higher passenger trust in the service</a:t>
            </a:r>
          </a:p>
          <a:p>
            <a:r>
              <a:rPr sz="2400" dirty="0">
                <a:latin typeface="Century Gothic" panose="020B0502020202020204" pitchFamily="34" charset="0"/>
              </a:rPr>
              <a:t>−  More distributed storage logistics</a:t>
            </a:r>
          </a:p>
          <a:p>
            <a:r>
              <a:rPr sz="2400" dirty="0">
                <a:latin typeface="Century Gothic" panose="020B0502020202020204" pitchFamily="34" charset="0"/>
              </a:rPr>
              <a:t>−  Operational complexity of locker network upkeep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entury Gothic" panose="020B0502020202020204" pitchFamily="34" charset="0"/>
              </a:rPr>
              <a:t>+  Closer pickup points</a:t>
            </a:r>
          </a:p>
          <a:p>
            <a:r>
              <a:rPr sz="2400" dirty="0">
                <a:latin typeface="Century Gothic" panose="020B0502020202020204" pitchFamily="34" charset="0"/>
              </a:rPr>
              <a:t>+  Anytime pickup via locker code (no info-point queue, no opening hours)</a:t>
            </a:r>
          </a:p>
          <a:p>
            <a:r>
              <a:rPr sz="2400" dirty="0">
                <a:latin typeface="Century Gothic" panose="020B0502020202020204" pitchFamily="34" charset="0"/>
              </a:rPr>
              <a:t>+  Less anxiety about the process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latin typeface="Century Gothic" panose="020B0502020202020204" pitchFamily="34" charset="0"/>
              </a:rPr>
              <a:t>Demo idea — full live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>
                <a:latin typeface="Century Gothic" panose="020B0502020202020204" pitchFamily="34" charset="0"/>
              </a:rPr>
              <a:t>Two laptops, end-to-end flow with audience participation</a:t>
            </a:r>
          </a:p>
          <a:p>
            <a:pPr marL="0" indent="0">
              <a:buNone/>
            </a:pPr>
            <a:endParaRPr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sz="2000" dirty="0">
                <a:latin typeface="Century Gothic" panose="020B0502020202020204" pitchFamily="34" charset="0"/>
              </a:rPr>
              <a:t>Laptop 1 — Item registration (VLM)</a:t>
            </a:r>
          </a:p>
          <a:p>
            <a:r>
              <a:rPr sz="2000" dirty="0">
                <a:latin typeface="Century Gothic" panose="020B0502020202020204" pitchFamily="34" charset="0"/>
              </a:rPr>
              <a:t>    Scan any item</a:t>
            </a:r>
          </a:p>
          <a:p>
            <a:r>
              <a:rPr sz="2000" dirty="0">
                <a:latin typeface="Century Gothic" panose="020B0502020202020204" pitchFamily="34" charset="0"/>
              </a:rPr>
              <a:t>    VLM generates description; entry added to the shared database</a:t>
            </a:r>
          </a:p>
          <a:p>
            <a:r>
              <a:rPr sz="2000" dirty="0">
                <a:latin typeface="Century Gothic" panose="020B0502020202020204" pitchFamily="34" charset="0"/>
              </a:rPr>
              <a:t>    Random found-at station/line assigned for the demo</a:t>
            </a:r>
          </a:p>
          <a:p>
            <a:r>
              <a:rPr sz="2000" dirty="0">
                <a:latin typeface="Century Gothic" panose="020B0502020202020204" pitchFamily="34" charset="0"/>
              </a:rPr>
              <a:t>    Barcelona map shows where the GNN will store the item</a:t>
            </a:r>
          </a:p>
          <a:p>
            <a:endParaRPr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sz="2000" dirty="0">
                <a:latin typeface="Century Gothic" panose="020B0502020202020204" pitchFamily="34" charset="0"/>
              </a:rPr>
              <a:t>Laptop 2 — Retrieval (LLM chatbot)</a:t>
            </a:r>
          </a:p>
          <a:p>
            <a:r>
              <a:rPr sz="2000" dirty="0">
                <a:latin typeface="Century Gothic" panose="020B0502020202020204" pitchFamily="34" charset="0"/>
              </a:rPr>
              <a:t>    Passenger describes the lost item in natural language</a:t>
            </a:r>
          </a:p>
          <a:p>
            <a:r>
              <a:rPr sz="2000" dirty="0">
                <a:latin typeface="Century Gothic" panose="020B0502020202020204" pitchFamily="34" charset="0"/>
              </a:rPr>
              <a:t>    LLM matches against the database and returns the pickup locker</a:t>
            </a:r>
          </a:p>
          <a:p>
            <a:r>
              <a:rPr sz="2000" dirty="0">
                <a:latin typeface="Century Gothic" panose="020B0502020202020204" pitchFamily="34" charset="0"/>
              </a:rPr>
              <a:t>    Same Barcelona map highlights the storage station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4050-C2E0-27B2-CA87-45C03DB7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4B59-B682-CB2F-0CC7-EE500851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Century Gothic" panose="020B0502020202020204" pitchFamily="34" charset="0"/>
              </a:rPr>
              <a:t>How we measure success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A115C-6215-1096-61C4-DD5827479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20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Collection Success Rate</a:t>
            </a:r>
          </a:p>
          <a:p>
            <a:pPr>
              <a:lnSpc>
                <a:spcPts val="2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Share of logged items successfully collected, stratified by passenger category (tourist, commuter, etc.)</a:t>
            </a:r>
          </a:p>
          <a:p>
            <a:pPr>
              <a:buNone/>
            </a:pPr>
            <a:r>
              <a:rPr lang="en-US" sz="2000" dirty="0">
                <a:latin typeface="Century Gothic" panose="020B0502020202020204" pitchFamily="34" charset="0"/>
              </a:rPr>
              <a:t> </a:t>
            </a:r>
          </a:p>
          <a:p>
            <a:pPr>
              <a:lnSpc>
                <a:spcPts val="2000"/>
              </a:lnSpc>
            </a:pPr>
            <a:r>
              <a:rPr lang="en-US" sz="2000" b="1" dirty="0">
                <a:latin typeface="Century Gothic" panose="020B0502020202020204" pitchFamily="34" charset="0"/>
              </a:rPr>
              <a:t>Time from Registration to Collection</a:t>
            </a:r>
          </a:p>
          <a:p>
            <a:pPr>
              <a:lnSpc>
                <a:spcPts val="2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How long from item logged to owner collected - critical for time-constrained passengers like tourists</a:t>
            </a:r>
          </a:p>
          <a:p>
            <a:pPr>
              <a:buNone/>
            </a:pPr>
            <a:r>
              <a:rPr lang="en-US" sz="2000" dirty="0">
                <a:latin typeface="Century Gothic" panose="020B0502020202020204" pitchFamily="34" charset="0"/>
              </a:rPr>
              <a:t> </a:t>
            </a:r>
          </a:p>
          <a:p>
            <a:pPr>
              <a:lnSpc>
                <a:spcPts val="2000"/>
              </a:lnSpc>
            </a:pPr>
            <a:r>
              <a:rPr lang="en-GB" sz="2000" b="1" dirty="0">
                <a:latin typeface="Century Gothic" panose="020B0502020202020204" pitchFamily="34" charset="0"/>
              </a:rPr>
              <a:t>Customer Satisfaction with Pick-Up Spot</a:t>
            </a:r>
            <a:r>
              <a:rPr lang="en-GB" sz="2000" dirty="0">
                <a:latin typeface="Century Gothic" panose="020B0502020202020204" pitchFamily="34" charset="0"/>
              </a:rPr>
              <a:t> </a:t>
            </a:r>
          </a:p>
          <a:p>
            <a:pPr>
              <a:lnSpc>
                <a:spcPts val="2000"/>
              </a:lnSpc>
            </a:pPr>
            <a:r>
              <a:rPr lang="en-GB" sz="2000" dirty="0">
                <a:latin typeface="Century Gothic" panose="020B0502020202020204" pitchFamily="34" charset="0"/>
              </a:rPr>
              <a:t>How satisfied passengers are with the assigned collection point — measures whether the GNN is placing items where people actually want to go.</a:t>
            </a:r>
            <a:endParaRPr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38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75EC-5FDA-1633-0E10-9EEF736B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A5FBEC6-3397-3780-C89B-0D22D371C19F}"/>
              </a:ext>
            </a:extLst>
          </p:cNvPr>
          <p:cNvSpPr txBox="1">
            <a:spLocks/>
          </p:cNvSpPr>
          <p:nvPr/>
        </p:nvSpPr>
        <p:spPr>
          <a:xfrm>
            <a:off x="457200" y="28575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Century Gothic" panose="020B0502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9398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289d523-100b-4401-b893-0fde8020484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6A5F131789964199A2625DA848D183" ma:contentTypeVersion="6" ma:contentTypeDescription="Creare un nuovo documento." ma:contentTypeScope="" ma:versionID="f0c0a2afe3d5ba91e0757c8258a6ed85">
  <xsd:schema xmlns:xsd="http://www.w3.org/2001/XMLSchema" xmlns:xs="http://www.w3.org/2001/XMLSchema" xmlns:p="http://schemas.microsoft.com/office/2006/metadata/properties" xmlns:ns3="9289d523-100b-4401-b893-0fde80204848" targetNamespace="http://schemas.microsoft.com/office/2006/metadata/properties" ma:root="true" ma:fieldsID="949ada9720e622d80cfe5f28fea18151" ns3:_="">
    <xsd:import namespace="9289d523-100b-4401-b893-0fde802048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89d523-100b-4401-b893-0fde802048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00C28B-18B2-49C0-97D2-4B96C0D33AF1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9289d523-100b-4401-b893-0fde80204848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6E7B4B8-5E7D-4E0E-995E-5BE9026F98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89d523-100b-4401-b893-0fde802048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11C63E-DBE6-401D-B8C6-F880E0078C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1040</Words>
  <Application>Microsoft Macintosh PowerPoint</Application>
  <PresentationFormat>On-screen Show (4:3)</PresentationFormat>
  <Paragraphs>113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Century Gothic</vt:lpstr>
      <vt:lpstr>Office Theme</vt:lpstr>
      <vt:lpstr>Lost &amp; Found</vt:lpstr>
      <vt:lpstr>Context</vt:lpstr>
      <vt:lpstr>Our way</vt:lpstr>
      <vt:lpstr>Problems we identified</vt:lpstr>
      <vt:lpstr>Our user</vt:lpstr>
      <vt:lpstr>Where we focus in the system</vt:lpstr>
      <vt:lpstr>Designing for the future</vt:lpstr>
      <vt:lpstr>Assumptions</vt:lpstr>
      <vt:lpstr>5W2H</vt:lpstr>
      <vt:lpstr>TMB Lost &amp; Found — 5-Year Plan</vt:lpstr>
      <vt:lpstr>Current situation</vt:lpstr>
      <vt:lpstr>Proposed changes — before the model</vt:lpstr>
      <vt:lpstr>GNN application</vt:lpstr>
      <vt:lpstr>How the GNN is trained</vt:lpstr>
      <vt:lpstr>What it tells us and what changes</vt:lpstr>
      <vt:lpstr>Hopeful impact</vt:lpstr>
      <vt:lpstr>TMB — tradeoffs</vt:lpstr>
      <vt:lpstr>Users</vt:lpstr>
      <vt:lpstr>Demo idea — full live system</vt:lpstr>
      <vt:lpstr>How we measure success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Nastya Urban</dc:creator>
  <cp:keywords/>
  <dc:description>generated using python-pptx</dc:description>
  <cp:lastModifiedBy>Dan Hagen</cp:lastModifiedBy>
  <cp:revision>9</cp:revision>
  <dcterms:created xsi:type="dcterms:W3CDTF">2013-01-27T09:14:16Z</dcterms:created>
  <dcterms:modified xsi:type="dcterms:W3CDTF">2026-05-18T08:56:23Z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0x0101003B6A5F131789964199A2625DA848D183</vt:lpwstr>
  </property>
</Properties>
</file>